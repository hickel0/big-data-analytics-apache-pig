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6"/>
  </p:notesMasterIdLst>
  <p:sldIdLst>
    <p:sldId id="256" r:id="rId2"/>
    <p:sldId id="285" r:id="rId3"/>
    <p:sldId id="292" r:id="rId4"/>
    <p:sldId id="293" r:id="rId5"/>
    <p:sldId id="294" r:id="rId6"/>
    <p:sldId id="307" r:id="rId7"/>
    <p:sldId id="308" r:id="rId8"/>
    <p:sldId id="295" r:id="rId9"/>
    <p:sldId id="296" r:id="rId10"/>
    <p:sldId id="291" r:id="rId11"/>
    <p:sldId id="299" r:id="rId12"/>
    <p:sldId id="300" r:id="rId13"/>
    <p:sldId id="298" r:id="rId14"/>
    <p:sldId id="303" r:id="rId15"/>
    <p:sldId id="297" r:id="rId16"/>
    <p:sldId id="301" r:id="rId17"/>
    <p:sldId id="304" r:id="rId18"/>
    <p:sldId id="302" r:id="rId19"/>
    <p:sldId id="288" r:id="rId20"/>
    <p:sldId id="309" r:id="rId21"/>
    <p:sldId id="267" r:id="rId22"/>
    <p:sldId id="265" r:id="rId23"/>
    <p:sldId id="271" r:id="rId24"/>
    <p:sldId id="2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73733" autoAdjust="0"/>
  </p:normalViewPr>
  <p:slideViewPr>
    <p:cSldViewPr snapToGrid="0">
      <p:cViewPr varScale="1">
        <p:scale>
          <a:sx n="81" d="100"/>
          <a:sy n="81" d="100"/>
        </p:scale>
        <p:origin x="64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C435C-C8AE-C248-B337-0A599311B9A7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04C2A-230D-8940-8236-156BB9C2E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11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NOT EXISTS avoid error in case the table already exists</a:t>
            </a:r>
          </a:p>
          <a:p>
            <a:r>
              <a:rPr lang="en-US" dirty="0"/>
              <a:t>Row Format Delimited is a </a:t>
            </a:r>
            <a:r>
              <a:rPr lang="en-US" dirty="0" err="1"/>
              <a:t>SerDe</a:t>
            </a:r>
            <a:r>
              <a:rPr lang="en-US" dirty="0"/>
              <a:t> (serializer/</a:t>
            </a:r>
            <a:r>
              <a:rPr lang="en-US" dirty="0" err="1"/>
              <a:t>deserializer</a:t>
            </a:r>
            <a:r>
              <a:rPr lang="en-US" dirty="0"/>
              <a:t>) mostly used for CSV files.</a:t>
            </a:r>
          </a:p>
          <a:p>
            <a:r>
              <a:rPr lang="en-US" dirty="0"/>
              <a:t>This is typical for CSV-type files but you can use different </a:t>
            </a:r>
            <a:r>
              <a:rPr lang="en-US" dirty="0" err="1"/>
              <a:t>SerDe</a:t>
            </a:r>
            <a:r>
              <a:rPr lang="en-US" dirty="0"/>
              <a:t> (see manual).</a:t>
            </a:r>
          </a:p>
          <a:p>
            <a:r>
              <a:rPr lang="en-US" dirty="0"/>
              <a:t>The schema is created and now you can insert rows. Data will also be handled in Hive</a:t>
            </a:r>
          </a:p>
          <a:p>
            <a:r>
              <a:rPr lang="en-US" dirty="0"/>
              <a:t>This are defaults table and called MANAGED TABLEs</a:t>
            </a:r>
          </a:p>
          <a:p>
            <a:r>
              <a:rPr lang="en-US" dirty="0"/>
              <a:t>They are managed and owned by HIVE for their lifecycle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73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are external (data is not owned by Hive which only manages the metadata/schema on external file</a:t>
            </a:r>
          </a:p>
          <a:p>
            <a:endParaRPr lang="en-US" dirty="0"/>
          </a:p>
          <a:p>
            <a:r>
              <a:rPr lang="en-US" dirty="0"/>
              <a:t>Said that. What happens when I remove an external vs a managed table you think?</a:t>
            </a:r>
          </a:p>
          <a:p>
            <a:r>
              <a:rPr lang="en-IE" dirty="0"/>
              <a:t>DROP deletes data for managed tables while it only deletes metadata for external ones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0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also create tables as a result of a Select which defines the schema for the new table.</a:t>
            </a:r>
          </a:p>
          <a:p>
            <a:r>
              <a:rPr lang="en-US"/>
              <a:t>Data will </a:t>
            </a:r>
            <a:r>
              <a:rPr lang="en-US" dirty="0"/>
              <a:t>also be handled in Hive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62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on HIVE Buckets vs Partitions:</a:t>
            </a:r>
          </a:p>
          <a:p>
            <a:endParaRPr lang="en-US" dirty="0"/>
          </a:p>
          <a:p>
            <a:r>
              <a:rPr lang="en-US" dirty="0"/>
              <a:t>Partitions creates several files/directories based on the values of the PARTITIONED BY (col1, col2, …).</a:t>
            </a:r>
          </a:p>
          <a:p>
            <a:endParaRPr lang="en-US" dirty="0"/>
          </a:p>
          <a:p>
            <a:r>
              <a:rPr lang="en-US" dirty="0"/>
              <a:t>NOTE: you can add partitions by altering the table but better to create a copy/different table loading the same data with partition (or buckets)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94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Buckets are like clusters: you decide how many buckets and a hash function is applied to the specific field (CLUSTERED BY (field) INTO n BUCKETS;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76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 is that show is going to show you the list of tables (table names), columns, partitions, views… in the default database (</a:t>
            </a:r>
            <a:r>
              <a:rPr lang="en-US" dirty="0" err="1"/>
              <a:t>metastore_db</a:t>
            </a:r>
            <a:r>
              <a:rPr lang="en-US" dirty="0"/>
              <a:t>)</a:t>
            </a:r>
          </a:p>
          <a:p>
            <a:r>
              <a:rPr lang="en-US" dirty="0"/>
              <a:t>Describe is going to provide details about a particular 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30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can simply list the values for the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53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using OVEWRITE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4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 can also insert only in a specific partition.</a:t>
            </a:r>
          </a:p>
          <a:p>
            <a:r>
              <a:rPr lang="en-US" dirty="0"/>
              <a:t>Check https://</a:t>
            </a:r>
            <a:r>
              <a:rPr lang="en-US" dirty="0" err="1"/>
              <a:t>sparkbyexamples.com</a:t>
            </a:r>
            <a:r>
              <a:rPr lang="en-US" dirty="0"/>
              <a:t>/</a:t>
            </a:r>
            <a:r>
              <a:rPr lang="en-US" dirty="0" err="1"/>
              <a:t>apache</a:t>
            </a:r>
            <a:r>
              <a:rPr lang="en-US" dirty="0"/>
              <a:t>-hive/hive-insert-into-vs-insert-overwrite/ for more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48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use LOCAL to load from local FS instead of HDFS</a:t>
            </a:r>
          </a:p>
          <a:p>
            <a:r>
              <a:rPr lang="en-US" dirty="0"/>
              <a:t>You can use OVERWRITE to replace the content of the table with whatever is in the file</a:t>
            </a:r>
          </a:p>
          <a:p>
            <a:r>
              <a:rPr lang="en-US" dirty="0"/>
              <a:t>You can also load into a specific partition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42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you remove a table, metadata is removed and data is moved to ./Trash if specified. Can be recovered unless you use PURGE</a:t>
            </a:r>
          </a:p>
          <a:p>
            <a:endParaRPr lang="en-US" dirty="0"/>
          </a:p>
          <a:p>
            <a:r>
              <a:rPr lang="en-US" dirty="0"/>
              <a:t>You can also Truncate table, change name to a table etc. we won’t cover them all but you have the manual</a:t>
            </a:r>
          </a:p>
          <a:p>
            <a:endParaRPr lang="en-US" dirty="0"/>
          </a:p>
          <a:p>
            <a:r>
              <a:rPr lang="en-US" dirty="0"/>
              <a:t>A note on RESERVED KEYWORDS that can be used as </a:t>
            </a:r>
            <a:r>
              <a:rPr lang="en-US" dirty="0" err="1"/>
              <a:t>ideitifiers</a:t>
            </a:r>
            <a:r>
              <a:rPr lang="en-US" dirty="0"/>
              <a:t> only if QUOTED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60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 a SELECT query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31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CSC file in Hive: https://</a:t>
            </a:r>
            <a:r>
              <a:rPr lang="en-US" dirty="0" err="1"/>
              <a:t>bigdataprogrammers.com</a:t>
            </a:r>
            <a:r>
              <a:rPr lang="en-US" dirty="0"/>
              <a:t>/load-csv-file-in-hive/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276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04C2A-230D-8940-8236-156BB9C2E1D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03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www.rohitmenon.com</a:t>
            </a:r>
            <a:r>
              <a:rPr lang="en-US" dirty="0"/>
              <a:t>/</a:t>
            </a:r>
            <a:r>
              <a:rPr lang="en-US" dirty="0" err="1"/>
              <a:t>index.php</a:t>
            </a:r>
            <a:r>
              <a:rPr lang="en-US" dirty="0"/>
              <a:t>/apache-pig-tutorial-part-1/ </a:t>
            </a:r>
          </a:p>
          <a:p>
            <a:r>
              <a:rPr lang="en-US" dirty="0"/>
              <a:t>https://</a:t>
            </a:r>
            <a:r>
              <a:rPr lang="en-US" dirty="0" err="1"/>
              <a:t>www.tutorialspoint.com</a:t>
            </a:r>
            <a:r>
              <a:rPr lang="en-US" dirty="0"/>
              <a:t>/</a:t>
            </a:r>
            <a:r>
              <a:rPr lang="en-US" dirty="0" err="1"/>
              <a:t>apache_pig</a:t>
            </a:r>
            <a:r>
              <a:rPr lang="en-US" dirty="0"/>
              <a:t>/</a:t>
            </a:r>
            <a:r>
              <a:rPr lang="en-US" dirty="0" err="1"/>
              <a:t>apache_pig_running_scripts.htm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PIG:</a:t>
            </a:r>
          </a:p>
          <a:p>
            <a:pPr marL="171450" indent="-171450">
              <a:buFontTx/>
              <a:buChar char="-"/>
            </a:pPr>
            <a:r>
              <a:rPr lang="en-US" dirty="0"/>
              <a:t>Interactive</a:t>
            </a:r>
            <a:r>
              <a:rPr lang="en-US" baseline="0" dirty="0"/>
              <a:t> mode: launch pig grunt shell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Batch mode: launch pig with pig script (you can put </a:t>
            </a:r>
            <a:r>
              <a:rPr lang="en-US" baseline="0" dirty="0" err="1"/>
              <a:t>PigLatin</a:t>
            </a:r>
            <a:r>
              <a:rPr lang="en-US" baseline="0" dirty="0"/>
              <a:t> statements and pig commands in the script)</a:t>
            </a:r>
          </a:p>
          <a:p>
            <a:pPr marL="0" indent="0">
              <a:buFontTx/>
              <a:buNone/>
            </a:pPr>
            <a:r>
              <a:rPr lang="en-US" dirty="0"/>
              <a:t>Remember</a:t>
            </a:r>
            <a:r>
              <a:rPr lang="en-US" baseline="0" dirty="0"/>
              <a:t> to </a:t>
            </a:r>
            <a:r>
              <a:rPr lang="en-US" dirty="0"/>
              <a:t>Load</a:t>
            </a:r>
            <a:r>
              <a:rPr lang="en-US" baseline="0" dirty="0"/>
              <a:t> dataset first</a:t>
            </a:r>
          </a:p>
          <a:p>
            <a:endParaRPr lang="en-US" baseline="0" dirty="0"/>
          </a:p>
          <a:p>
            <a:r>
              <a:rPr lang="en-US" baseline="0" dirty="0"/>
              <a:t>HIVE:</a:t>
            </a:r>
          </a:p>
          <a:p>
            <a:r>
              <a:rPr lang="en-US" baseline="0" dirty="0"/>
              <a:t>- We will use the CLI (launched </a:t>
            </a:r>
            <a:r>
              <a:rPr lang="en-US" baseline="0"/>
              <a:t>with $ hive)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9D1CD-91BA-4F40-AEE4-D4734ED2194D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868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5B15-014C-1442-A77E-12C0362A7DDD}" type="datetime1">
              <a:rPr lang="en-IE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12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9F98-7A8B-E441-809C-335B9A23AFAB}" type="datetime1">
              <a:rPr lang="en-IE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781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62A4-B8C7-A344-AA53-9FDEAD221CEB}" type="datetime1">
              <a:rPr lang="en-IE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25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BF95-40D7-D14B-AE24-BF60BC965B5B}" type="datetime1">
              <a:rPr lang="en-IE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92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3C107-D80E-464F-9B60-2FF6D6ACD33E}" type="datetime1">
              <a:rPr lang="en-IE" smtClean="0"/>
              <a:t>25/09/2025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568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96D7B-9400-3040-B020-D9FEF19C66CC}" type="datetime1">
              <a:rPr lang="en-IE" smtClean="0"/>
              <a:t>25/09/2025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851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E3B-EB9B-B549-A26F-3635959FF634}" type="datetime1">
              <a:rPr lang="en-IE" smtClean="0"/>
              <a:t>25/09/2025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19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EC2-0B5B-DB4E-97F7-6ED4F1EA305F}" type="datetime1">
              <a:rPr lang="en-IE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20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BE5-C934-EA44-8883-0C6225E15311}" type="datetime1">
              <a:rPr lang="en-IE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366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0507-AE5F-1C4B-8780-94D04049F376}" type="datetime1">
              <a:rPr lang="en-IE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686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4E44-B5EF-A04C-B376-541B00346FCF}" type="datetime1">
              <a:rPr lang="en-IE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A701-C45E-4D56-9086-05C50E7EA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52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B90B8A20-C645-E446-9309-016A8079A9A6}" type="datetime1">
              <a:rPr lang="en-IE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GB"/>
              <a:t>CSC1109 2024/2025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9C48A701-C45E-4D56-9086-05C50E7EAF9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7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lessandra.mileo@dcu.i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wiki.apache.org/confluence/display/Hive/LanguageManual+DD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wiki.apache.org/confluence/display/Hive/LanguageManual+D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wiki.apache.org/confluence/display/Hive/LanguageManual+DD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wiki.apache.org/confluence/display/Hive/LanguageManual+D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wiki.apache.org/confluence/display/Hive/LanguageManual+UD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sc1109.readthedocs.io/en/latest/lab2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4022/Lab2-Hive_Pi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st.github.com/brikis98/1332818" TargetMode="External"/><Relationship Id="rId5" Type="http://schemas.openxmlformats.org/officeDocument/2006/relationships/hyperlink" Target="http://courses.coreservlets.com/Course-Materials/pdf/hadoop/06-Pig-01-Intro.pdf" TargetMode="External"/><Relationship Id="rId4" Type="http://schemas.openxmlformats.org/officeDocument/2006/relationships/hyperlink" Target="https://pig.apache.org/docs/r0.11.1/start.html%23run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courses.coreservlets.com/Course-Materials/pdf/hadoop/06-Pig-01-Intro.pdf" TargetMode="External"/><Relationship Id="rId2" Type="http://schemas.openxmlformats.org/officeDocument/2006/relationships/hyperlink" Target="https://pig.apache.org/docs/latest/basic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419167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CSC1109 – Data (Analytics) at Speed and Scale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Alessandra Mileo</a:t>
            </a:r>
          </a:p>
          <a:p>
            <a:r>
              <a:rPr lang="en-GB" dirty="0">
                <a:hlinkClick r:id="rId2"/>
              </a:rPr>
              <a:t>alessandra.mileo@dcu.ie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3389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DDL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 DML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52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Create table (basic clauses)</a:t>
            </a:r>
          </a:p>
          <a:p>
            <a:pPr lvl="1"/>
            <a:r>
              <a:rPr lang="en-US" dirty="0"/>
              <a:t>Managed</a:t>
            </a:r>
          </a:p>
          <a:p>
            <a:pPr lvl="1"/>
            <a:r>
              <a:rPr lang="en-US" dirty="0"/>
              <a:t>External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Inspect/visualize schema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Show tables/partitions/views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Describe (extended/formatted)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table_name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Insert data into table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Listing values 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Select statement/Load from file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Remove table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Drop table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DA8A9-C52A-C273-ABB0-58A154AF29D2}"/>
              </a:ext>
            </a:extLst>
          </p:cNvPr>
          <p:cNvSpPr txBox="1"/>
          <p:nvPr/>
        </p:nvSpPr>
        <p:spPr>
          <a:xfrm>
            <a:off x="68308" y="39192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More at </a:t>
            </a:r>
            <a:r>
              <a:rPr lang="en-US" sz="1800" dirty="0">
                <a:hlinkClick r:id="rId2"/>
              </a:rPr>
              <a:t>https://cwiki.apache.org/confluence/display/Hive/LanguageManual+DDL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0657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DDL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 DML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5529" cy="4340811"/>
          </a:xfrm>
        </p:spPr>
        <p:txBody>
          <a:bodyPr>
            <a:normAutofit/>
          </a:bodyPr>
          <a:lstStyle/>
          <a:p>
            <a:r>
              <a:rPr lang="en-US" dirty="0"/>
              <a:t>Create table (basic clauses)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NOT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test_table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(col1 int, col2 string)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 FORMAT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DELIMITED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 TERMINATED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TEXTFILE;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E6831DC6-C5A9-5124-8900-E8771D7AB1D8}"/>
              </a:ext>
            </a:extLst>
          </p:cNvPr>
          <p:cNvSpPr/>
          <p:nvPr/>
        </p:nvSpPr>
        <p:spPr>
          <a:xfrm>
            <a:off x="4983995" y="2287571"/>
            <a:ext cx="2988931" cy="776471"/>
          </a:xfrm>
          <a:prstGeom prst="wedgeEllipseCallout">
            <a:avLst>
              <a:gd name="adj1" fmla="val -88436"/>
              <a:gd name="adj2" fmla="val 8551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Managed table</a:t>
            </a:r>
          </a:p>
        </p:txBody>
      </p:sp>
    </p:spTree>
    <p:extLst>
      <p:ext uri="{BB962C8B-B14F-4D97-AF65-F5344CB8AC3E}">
        <p14:creationId xmlns:p14="http://schemas.microsoft.com/office/powerpoint/2010/main" val="355906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DDL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 DML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5529" cy="4667251"/>
          </a:xfrm>
        </p:spPr>
        <p:txBody>
          <a:bodyPr>
            <a:normAutofit/>
          </a:bodyPr>
          <a:lstStyle/>
          <a:p>
            <a:r>
              <a:rPr lang="en-US" dirty="0"/>
              <a:t>Create table (basic clauses)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EXTERNAL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NOT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test_table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(col1 int, col2 string)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 FORMAT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DELIMITED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 TERMINATED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TEXTFILE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‘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location_in_HDFS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E8430939-6CE6-770B-A9DC-F9F8F0DF4895}"/>
              </a:ext>
            </a:extLst>
          </p:cNvPr>
          <p:cNvSpPr/>
          <p:nvPr/>
        </p:nvSpPr>
        <p:spPr>
          <a:xfrm>
            <a:off x="4983995" y="2287571"/>
            <a:ext cx="2988931" cy="776471"/>
          </a:xfrm>
          <a:prstGeom prst="wedgeEllipseCallout">
            <a:avLst>
              <a:gd name="adj1" fmla="val -88436"/>
              <a:gd name="adj2" fmla="val 8551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External table</a:t>
            </a:r>
          </a:p>
        </p:txBody>
      </p:sp>
    </p:spTree>
    <p:extLst>
      <p:ext uri="{BB962C8B-B14F-4D97-AF65-F5344CB8AC3E}">
        <p14:creationId xmlns:p14="http://schemas.microsoft.com/office/powerpoint/2010/main" val="3565651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DDL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 DML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5529" cy="4667251"/>
          </a:xfrm>
        </p:spPr>
        <p:txBody>
          <a:bodyPr>
            <a:normAutofit/>
          </a:bodyPr>
          <a:lstStyle/>
          <a:p>
            <a:r>
              <a:rPr lang="en-US" dirty="0"/>
              <a:t>Create table (basic clauses): Create Table As Select (CTAS)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NOT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test_table</a:t>
            </a:r>
            <a:endParaRPr lang="en-US" dirty="0">
              <a:solidFill>
                <a:srgbClr val="1B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 FORMAT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DELIMITED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 TERMINATED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TEXTFILE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test_table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…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4F3A9482-4839-238D-663F-E26356B4EA85}"/>
              </a:ext>
            </a:extLst>
          </p:cNvPr>
          <p:cNvSpPr/>
          <p:nvPr/>
        </p:nvSpPr>
        <p:spPr>
          <a:xfrm>
            <a:off x="6993269" y="4594760"/>
            <a:ext cx="4974142" cy="776471"/>
          </a:xfrm>
          <a:prstGeom prst="wedgeEllipseCallout">
            <a:avLst>
              <a:gd name="adj1" fmla="val -32319"/>
              <a:gd name="adj2" fmla="val 11031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Result of this SELECT is the schema for the new table</a:t>
            </a:r>
          </a:p>
        </p:txBody>
      </p:sp>
    </p:spTree>
    <p:extLst>
      <p:ext uri="{BB962C8B-B14F-4D97-AF65-F5344CB8AC3E}">
        <p14:creationId xmlns:p14="http://schemas.microsoft.com/office/powerpoint/2010/main" val="557278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DDL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 DML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5529" cy="4667251"/>
          </a:xfrm>
        </p:spPr>
        <p:txBody>
          <a:bodyPr>
            <a:normAutofit/>
          </a:bodyPr>
          <a:lstStyle/>
          <a:p>
            <a:r>
              <a:rPr lang="en-US" dirty="0"/>
              <a:t>Create table (buckets and partitions clauses)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NOT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new_test_table</a:t>
            </a:r>
            <a:endParaRPr lang="en-US" dirty="0">
              <a:solidFill>
                <a:srgbClr val="1B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PARTITIONED BY(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col_1 STRING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 FORMAT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DELIMITED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 TERMINATED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TEXTFILE;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4071524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DDL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 DML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5529" cy="4667251"/>
          </a:xfrm>
        </p:spPr>
        <p:txBody>
          <a:bodyPr>
            <a:normAutofit/>
          </a:bodyPr>
          <a:lstStyle/>
          <a:p>
            <a:r>
              <a:rPr lang="en-US" dirty="0"/>
              <a:t>Create table (buckets and partitions clauses)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NOT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new_test_table</a:t>
            </a:r>
            <a:endParaRPr lang="en-US" dirty="0">
              <a:solidFill>
                <a:srgbClr val="1B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CLUSTERED BY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(id)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[SORTED BY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(var)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BUCKETS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 FORMAT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DELIMITED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 TERMINATED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TEXTFILE;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146157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DDL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 DML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529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Create table (basic clauses)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Managed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External</a:t>
            </a:r>
          </a:p>
          <a:p>
            <a:r>
              <a:rPr lang="en-US" dirty="0"/>
              <a:t>Inspect/visualize schema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dirty="0"/>
              <a:t> tables/partitions/views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[extended/formatted]</a:t>
            </a:r>
            <a:r>
              <a:rPr lang="en-US" dirty="0" err="1"/>
              <a:t>table_name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Insert data into table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Listing values 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Select statement/Load from file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Remove table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Drop table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7BABC04F-768E-1200-2F64-AA716F0825D1}"/>
              </a:ext>
            </a:extLst>
          </p:cNvPr>
          <p:cNvSpPr/>
          <p:nvPr/>
        </p:nvSpPr>
        <p:spPr>
          <a:xfrm>
            <a:off x="6166554" y="2055782"/>
            <a:ext cx="5457173" cy="776471"/>
          </a:xfrm>
          <a:prstGeom prst="wedgeEllipseCallout">
            <a:avLst>
              <a:gd name="adj1" fmla="val -60377"/>
              <a:gd name="adj2" fmla="val 13303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You can SHOW any of these</a:t>
            </a:r>
          </a:p>
        </p:txBody>
      </p:sp>
    </p:spTree>
    <p:extLst>
      <p:ext uri="{BB962C8B-B14F-4D97-AF65-F5344CB8AC3E}">
        <p14:creationId xmlns:p14="http://schemas.microsoft.com/office/powerpoint/2010/main" val="2492846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DDL and </a:t>
            </a:r>
            <a:r>
              <a:rPr lang="en-US" dirty="0"/>
              <a:t>DML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529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Create table (basic clauses)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Managed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External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Inspect/visualize schema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Show tables/partitions/views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Describe (extended/formatted)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table_name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/>
              <a:t>Insert data into table</a:t>
            </a:r>
          </a:p>
          <a:p>
            <a:pPr lvl="1"/>
            <a:r>
              <a:rPr lang="en-US" dirty="0"/>
              <a:t>Listing values </a:t>
            </a:r>
          </a:p>
          <a:p>
            <a:pPr lvl="1"/>
            <a:r>
              <a:rPr lang="en-US" dirty="0"/>
              <a:t>Select statement/Load from </a:t>
            </a:r>
            <a:r>
              <a:rPr lang="en-US" dirty="0" err="1"/>
              <a:t>filie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Remove table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Drop table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999EF-55DB-73AF-FC17-5B7AADBEF369}"/>
              </a:ext>
            </a:extLst>
          </p:cNvPr>
          <p:cNvSpPr txBox="1"/>
          <p:nvPr/>
        </p:nvSpPr>
        <p:spPr>
          <a:xfrm>
            <a:off x="136366" y="45522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More at </a:t>
            </a:r>
            <a:r>
              <a:rPr lang="en-US" sz="1800" dirty="0">
                <a:hlinkClick r:id="rId2"/>
              </a:rPr>
              <a:t>https://cwiki.apache.org/confluence/display/Hive/LanguageManual+DML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52995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DDL and </a:t>
            </a:r>
            <a:r>
              <a:rPr lang="en-US" dirty="0"/>
              <a:t>DML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52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test_table</a:t>
            </a:r>
            <a:endParaRPr lang="en-US" dirty="0">
              <a:solidFill>
                <a:srgbClr val="1B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1B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VALUES(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value_1a, value_1b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value_2a, value_2b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value_3a, value_3b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/>
          </a:p>
          <a:p>
            <a:r>
              <a:rPr lang="en-US" dirty="0"/>
              <a:t>Insert data into table</a:t>
            </a:r>
          </a:p>
          <a:p>
            <a:pPr lvl="1"/>
            <a:r>
              <a:rPr lang="en-US" dirty="0"/>
              <a:t>Listing values 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Select statement/Load from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filie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Remove table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Drop table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101398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DDL and </a:t>
            </a:r>
            <a:r>
              <a:rPr lang="en-US" dirty="0"/>
              <a:t>DML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5529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OVERWRITE TABLE 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test_table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VALUES(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value_1a, value_1b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value_2a, value_2b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value_3a, value_3b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/>
          </a:p>
          <a:p>
            <a:r>
              <a:rPr lang="en-US" dirty="0"/>
              <a:t>Insert data into table</a:t>
            </a:r>
          </a:p>
          <a:p>
            <a:pPr lvl="1"/>
            <a:r>
              <a:rPr lang="en-US" dirty="0"/>
              <a:t>Listing values 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Select statement/Load from file</a:t>
            </a:r>
          </a:p>
          <a:p>
            <a:r>
              <a:rPr lang="en-US" dirty="0">
                <a:solidFill>
                  <a:schemeClr val="bg1"/>
                </a:solidFill>
              </a:rPr>
              <a:t>Remove table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Drop table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3488796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DDL and </a:t>
            </a:r>
            <a:r>
              <a:rPr lang="en-US" dirty="0"/>
              <a:t>DML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5529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OVERWRITE TABLE 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test_table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 (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partition_key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=‘value’)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VALUES(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value_1a, value_1b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value_2a, value_2b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value_3a, value_3b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/>
          </a:p>
          <a:p>
            <a:r>
              <a:rPr lang="en-US" dirty="0"/>
              <a:t>Insert data into table</a:t>
            </a:r>
          </a:p>
          <a:p>
            <a:pPr lvl="1"/>
            <a:r>
              <a:rPr lang="en-US" dirty="0"/>
              <a:t>Listing values 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Select statement/Load from file</a:t>
            </a:r>
          </a:p>
          <a:p>
            <a:r>
              <a:rPr lang="en-US" dirty="0">
                <a:solidFill>
                  <a:schemeClr val="bg1"/>
                </a:solidFill>
              </a:rPr>
              <a:t>Remove table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Drop table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1689209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DDL and </a:t>
            </a:r>
            <a:r>
              <a:rPr lang="en-US" dirty="0"/>
              <a:t>DML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52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test_table</a:t>
            </a:r>
            <a:endParaRPr lang="en-US" dirty="0">
              <a:solidFill>
                <a:srgbClr val="1B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SELECT …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FROM …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…;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dirty="0"/>
          </a:p>
          <a:p>
            <a:r>
              <a:rPr lang="en-US" dirty="0"/>
              <a:t>Insert data into table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Listing values </a:t>
            </a:r>
          </a:p>
          <a:p>
            <a:pPr lvl="1"/>
            <a:r>
              <a:rPr lang="en-US" dirty="0"/>
              <a:t>Select statement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/Load from file</a:t>
            </a:r>
          </a:p>
          <a:p>
            <a:r>
              <a:rPr lang="en-US" dirty="0">
                <a:solidFill>
                  <a:schemeClr val="bg1"/>
                </a:solidFill>
              </a:rPr>
              <a:t>Remove table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Drop table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3650151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DDL and </a:t>
            </a:r>
            <a:r>
              <a:rPr lang="en-US" dirty="0"/>
              <a:t>DML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52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 DATA [LOCAL]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INPATH 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[OVERWRITE] INTO TABLE </a:t>
            </a:r>
            <a:r>
              <a:rPr lang="en-US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test_table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Insert data into table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Listing values 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Select statement/</a:t>
            </a:r>
            <a:r>
              <a:rPr lang="en-US" dirty="0"/>
              <a:t>Load from file</a:t>
            </a:r>
          </a:p>
          <a:p>
            <a:r>
              <a:rPr lang="en-US" dirty="0">
                <a:solidFill>
                  <a:schemeClr val="bg1"/>
                </a:solidFill>
              </a:rPr>
              <a:t>Remove table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Drop table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3003020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DDL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 DML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529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Create table (basic clauses)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Managed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External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Inspect/visualize schema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Show tables/partitions/views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Describe (extended/formatted)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table_name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Insert data into table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Listing values 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Select statement/Load from file</a:t>
            </a:r>
          </a:p>
          <a:p>
            <a:r>
              <a:rPr lang="en-US" dirty="0"/>
              <a:t>Remove table (metadata and data)</a:t>
            </a:r>
          </a:p>
          <a:p>
            <a:pPr lvl="1"/>
            <a:r>
              <a:rPr lang="en-US" dirty="0"/>
              <a:t>Drop table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DA8A9-C52A-C273-ABB0-58A154AF29D2}"/>
              </a:ext>
            </a:extLst>
          </p:cNvPr>
          <p:cNvSpPr txBox="1"/>
          <p:nvPr/>
        </p:nvSpPr>
        <p:spPr>
          <a:xfrm>
            <a:off x="0" y="45522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More at </a:t>
            </a:r>
            <a:r>
              <a:rPr lang="en-US" sz="1800" dirty="0">
                <a:hlinkClick r:id="rId2"/>
              </a:rPr>
              <a:t>https://cwiki.apache.org/confluence/display/Hive/LanguageManual+DDL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56688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DDL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 DML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5529" cy="45307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E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IE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TABLE [IF EXISTS] </a:t>
            </a:r>
            <a:r>
              <a:rPr lang="en-IE" dirty="0" err="1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test_table</a:t>
            </a:r>
            <a:r>
              <a:rPr lang="en-IE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[PURGE];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Remove table (metadata and data)</a:t>
            </a:r>
          </a:p>
          <a:p>
            <a:pPr lvl="1"/>
            <a:r>
              <a:rPr lang="en-US" dirty="0"/>
              <a:t>Drop table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E10F4E10-4D42-6F91-CE82-E31C15FC4174}"/>
              </a:ext>
            </a:extLst>
          </p:cNvPr>
          <p:cNvSpPr/>
          <p:nvPr/>
        </p:nvSpPr>
        <p:spPr>
          <a:xfrm>
            <a:off x="7331241" y="3728137"/>
            <a:ext cx="3525797" cy="776471"/>
          </a:xfrm>
          <a:prstGeom prst="wedgeEllipseCallout">
            <a:avLst>
              <a:gd name="adj1" fmla="val -11235"/>
              <a:gd name="adj2" fmla="val -1272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No recovery in case of mistake</a:t>
            </a:r>
          </a:p>
        </p:txBody>
      </p:sp>
    </p:spTree>
    <p:extLst>
      <p:ext uri="{BB962C8B-B14F-4D97-AF65-F5344CB8AC3E}">
        <p14:creationId xmlns:p14="http://schemas.microsoft.com/office/powerpoint/2010/main" val="3283137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0F96-617C-F922-881E-27402ACF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93D-3179-9FDB-E0AB-83EEE52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529" cy="4351338"/>
          </a:xfrm>
        </p:spPr>
        <p:txBody>
          <a:bodyPr>
            <a:normAutofit/>
          </a:bodyPr>
          <a:lstStyle/>
          <a:p>
            <a:r>
              <a:rPr lang="en-US" dirty="0"/>
              <a:t>Simple Select queries</a:t>
            </a:r>
          </a:p>
          <a:p>
            <a:r>
              <a:rPr lang="en-US" dirty="0"/>
              <a:t>Hive Functions (Simple and Aggregated)</a:t>
            </a:r>
          </a:p>
          <a:p>
            <a:r>
              <a:rPr lang="en-US" dirty="0"/>
              <a:t>Advanced Queries</a:t>
            </a:r>
          </a:p>
          <a:p>
            <a:pPr lvl="1"/>
            <a:r>
              <a:rPr lang="en-US" dirty="0"/>
              <a:t>Join</a:t>
            </a:r>
          </a:p>
          <a:p>
            <a:pPr lvl="1"/>
            <a:r>
              <a:rPr lang="en-US" dirty="0"/>
              <a:t>Sampling (with or without subqueries)</a:t>
            </a:r>
          </a:p>
          <a:p>
            <a:pPr lvl="1"/>
            <a:r>
              <a:rPr lang="en-US" dirty="0"/>
              <a:t>Subqueries (?)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9849-126D-618F-ABCD-D52CAED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DA8A9-C52A-C273-ABB0-58A154AF29D2}"/>
              </a:ext>
            </a:extLst>
          </p:cNvPr>
          <p:cNvSpPr txBox="1"/>
          <p:nvPr/>
        </p:nvSpPr>
        <p:spPr>
          <a:xfrm>
            <a:off x="0" y="1072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More at </a:t>
            </a:r>
            <a:r>
              <a:rPr lang="en-US" sz="1800" dirty="0">
                <a:hlinkClick r:id="rId2"/>
              </a:rPr>
              <a:t>https://cwiki.apache.org/confluence/display/Hive/LanguageManual+DML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0197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A95C-4EE4-2909-5A40-153D607E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5529" cy="1325563"/>
          </a:xfrm>
        </p:spPr>
        <p:txBody>
          <a:bodyPr/>
          <a:lstStyle/>
          <a:p>
            <a:r>
              <a:rPr lang="en-US" dirty="0"/>
              <a:t>Hive Basics: Queries (select)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9EB74-B29A-C251-838E-359780E06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Simple Select queries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IE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column names</a:t>
            </a:r>
          </a:p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IE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table-name</a:t>
            </a:r>
          </a:p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[WHERE</a:t>
            </a:r>
            <a:r>
              <a:rPr lang="en-IE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conditions]</a:t>
            </a:r>
          </a:p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[GROUP BY </a:t>
            </a:r>
            <a:r>
              <a:rPr lang="en-IE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 names]</a:t>
            </a:r>
          </a:p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[HAVING</a:t>
            </a:r>
            <a:r>
              <a:rPr lang="en-IE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conditions]</a:t>
            </a:r>
          </a:p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[ORDER BY </a:t>
            </a:r>
            <a:r>
              <a:rPr lang="en-IE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 names]</a:t>
            </a:r>
          </a:p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[LIMIT</a:t>
            </a:r>
            <a:r>
              <a:rPr lang="en-IE" dirty="0">
                <a:solidFill>
                  <a:srgbClr val="1B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number of rows]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E21FA-8066-BA2C-3DC3-9EDF61425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463107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A95C-4EE4-2909-5A40-153D607E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5529" cy="1325563"/>
          </a:xfrm>
        </p:spPr>
        <p:txBody>
          <a:bodyPr/>
          <a:lstStyle/>
          <a:p>
            <a:r>
              <a:rPr lang="en-US" dirty="0"/>
              <a:t>Hive Basics: Queries (operators and UDF)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9EB74-B29A-C251-838E-359780E06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Hive Functions (simple)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Logical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Mathematical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String (e.g. 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concat</a:t>
            </a:r>
            <a:r>
              <a:rPr lang="en-US" dirty="0"/>
              <a:t> and 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substr</a:t>
            </a:r>
            <a:r>
              <a:rPr lang="en-US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Hive Function (aggregate)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dirty="0"/>
              <a:t>, …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E21FA-8066-BA2C-3DC3-9EDF61425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7D43B-2CB6-43DD-A3A7-F65FCA06D993}"/>
              </a:ext>
            </a:extLst>
          </p:cNvPr>
          <p:cNvSpPr txBox="1"/>
          <p:nvPr/>
        </p:nvSpPr>
        <p:spPr>
          <a:xfrm>
            <a:off x="6634" y="30928"/>
            <a:ext cx="9031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More at: </a:t>
            </a:r>
            <a:r>
              <a:rPr lang="en-US" dirty="0">
                <a:hlinkClick r:id="rId3"/>
              </a:rPr>
              <a:t>https://cwiki.apache.org/confluence/display/Hive/LanguageManual+UDF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4511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05D4-4E20-62E9-DA98-12DA7AEF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Basics: Advanced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B895-9FA4-26B9-84BA-3AE4154AD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… more next week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29AF4-800B-4B60-20DC-835DA0267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3373700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0199"/>
            <a:ext cx="10515600" cy="4510279"/>
          </a:xfrm>
        </p:spPr>
        <p:txBody>
          <a:bodyPr>
            <a:normAutofit/>
          </a:bodyPr>
          <a:lstStyle/>
          <a:p>
            <a:r>
              <a:rPr lang="en-US" dirty="0"/>
              <a:t>Interface options: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Beeline and JDBC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 this is what we will use 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HIVE CLI (replaced by beeline and HiveServer2)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Web (removed in Hive 2.2.0)</a:t>
            </a:r>
          </a:p>
          <a:p>
            <a:pPr lvl="2"/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/>
              <a:t>Hive stores data in a warehouse directory on HDFS</a:t>
            </a:r>
          </a:p>
          <a:p>
            <a:pPr lvl="1"/>
            <a:r>
              <a:rPr lang="en-US" dirty="0"/>
              <a:t>You need to create such directories while the cluster is running</a:t>
            </a:r>
          </a:p>
          <a:p>
            <a:r>
              <a:rPr lang="en-US" dirty="0"/>
              <a:t>DDL, DML and SQL operations available</a:t>
            </a:r>
          </a:p>
          <a:p>
            <a:pPr lvl="1"/>
            <a:r>
              <a:rPr lang="en-US" dirty="0"/>
              <a:t>See lab2 for more examples</a:t>
            </a:r>
          </a:p>
          <a:p>
            <a:pPr marL="457200" lvl="1" indent="0">
              <a:buNone/>
            </a:pPr>
            <a:r>
              <a:rPr lang="en-US" dirty="0">
                <a:hlinkClick r:id="rId3"/>
              </a:rPr>
              <a:t>https://csc1109.readthedocs.io/en/latest/lab2/</a:t>
            </a:r>
            <a:r>
              <a:rPr lang="en-US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2973607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LAB: Where are we?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/>
              <a:t>Running MapReduce via </a:t>
            </a:r>
            <a:r>
              <a:rPr lang="en-GB" sz="3200" dirty="0" err="1"/>
              <a:t>MRJob</a:t>
            </a:r>
            <a:r>
              <a:rPr lang="en-GB" sz="3200" dirty="0"/>
              <a:t> in Python:</a:t>
            </a:r>
            <a:endParaRPr lang="en-GB" sz="3200" dirty="0">
              <a:hlinkClick r:id="" action="ppaction://noaction"/>
            </a:endParaRPr>
          </a:p>
          <a:p>
            <a:r>
              <a:rPr lang="en-GB" sz="3200" dirty="0">
                <a:hlinkClick r:id="" action="ppaction://noaction"/>
              </a:rPr>
              <a:t>https://csc1109.readthedocs.io/en/latest/lab1/</a:t>
            </a:r>
          </a:p>
          <a:p>
            <a:pPr marL="0" indent="0">
              <a:buNone/>
            </a:pPr>
            <a:endParaRPr lang="en-GB" sz="3200" dirty="0">
              <a:hlinkClick r:id="" action="ppaction://noaction"/>
            </a:endParaRPr>
          </a:p>
          <a:p>
            <a:pPr marL="0" indent="0">
              <a:buNone/>
            </a:pPr>
            <a:r>
              <a:rPr lang="en-GB" sz="3200" dirty="0"/>
              <a:t>Hive</a:t>
            </a:r>
            <a:endParaRPr lang="en-GB" sz="3200" dirty="0">
              <a:hlinkClick r:id="" action="ppaction://noaction"/>
            </a:endParaRPr>
          </a:p>
          <a:p>
            <a:r>
              <a:rPr lang="en-GB" sz="3200" dirty="0">
                <a:hlinkClick r:id="" action="ppaction://noaction"/>
              </a:rPr>
              <a:t>https://github.com/CA4022/Lab1-HadoopMR</a:t>
            </a:r>
            <a:r>
              <a:rPr lang="en-GB" sz="3200" dirty="0"/>
              <a:t> </a:t>
            </a:r>
          </a:p>
          <a:p>
            <a:pPr marL="0" indent="0">
              <a:buNone/>
            </a:pPr>
            <a:endParaRPr lang="en-GB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DCABE0-C0ED-81D6-DE42-4D24D01D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CSC1109 - AA.2025/2026</a:t>
            </a:r>
          </a:p>
        </p:txBody>
      </p:sp>
    </p:spTree>
    <p:extLst>
      <p:ext uri="{BB962C8B-B14F-4D97-AF65-F5344CB8AC3E}">
        <p14:creationId xmlns:p14="http://schemas.microsoft.com/office/powerpoint/2010/main" val="1596663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Pig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Pig installation and run (Pig section)</a:t>
            </a:r>
          </a:p>
          <a:p>
            <a:pPr lvl="1"/>
            <a:r>
              <a:rPr lang="en-US" dirty="0">
                <a:hlinkClick r:id="rId3"/>
              </a:rPr>
              <a:t>https://github.com/CA4022/Lab2-Hive_Pig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Apache Pig Manual: getting started</a:t>
            </a:r>
          </a:p>
          <a:p>
            <a:pPr lvl="1"/>
            <a:r>
              <a:rPr lang="en-US" dirty="0">
                <a:hlinkClick r:id="rId4"/>
              </a:rPr>
              <a:t>https://pig.apache.org/docs/r0.11.1/start.html#run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Examples of scripts:</a:t>
            </a:r>
          </a:p>
          <a:p>
            <a:pPr lvl="1"/>
            <a:r>
              <a:rPr lang="en-US" dirty="0">
                <a:hlinkClick r:id="rId5"/>
              </a:rPr>
              <a:t>http://courses.coreservlets.com/Course-Materials/pdf/hadoop/06-Pig-01-Intro.pdf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6"/>
              </a:rPr>
              <a:t>https://gist.github.com/brikis98/1332818</a:t>
            </a:r>
            <a:r>
              <a:rPr lang="en-US" dirty="0"/>
              <a:t>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3155531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PigLatin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PigLatin</a:t>
            </a:r>
            <a:r>
              <a:rPr lang="en-US" dirty="0"/>
              <a:t> basics:</a:t>
            </a:r>
          </a:p>
          <a:p>
            <a:pPr lvl="1"/>
            <a:r>
              <a:rPr lang="en-US" dirty="0">
                <a:hlinkClick r:id="rId2"/>
              </a:rPr>
              <a:t>https://pig.apache.org/docs/latest/basic.html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Pig Examples: </a:t>
            </a:r>
          </a:p>
          <a:p>
            <a:pPr lvl="1"/>
            <a:r>
              <a:rPr lang="en-US" dirty="0">
                <a:hlinkClick r:id="rId3"/>
              </a:rPr>
              <a:t>http://courses.coreservlets.com/Course-Materials/pdf/hadoop/06-Pig-01-Intro.pdf</a:t>
            </a:r>
            <a:r>
              <a:rPr lang="en-US" dirty="0"/>
              <a:t> </a:t>
            </a:r>
          </a:p>
          <a:p>
            <a:endParaRPr lang="en-US"/>
          </a:p>
          <a:p>
            <a:r>
              <a:rPr lang="en-US"/>
              <a:t>Check </a:t>
            </a:r>
            <a:r>
              <a:rPr lang="en-US" dirty="0"/>
              <a:t>more examples at</a:t>
            </a:r>
          </a:p>
          <a:p>
            <a:pPr lvl="1"/>
            <a:r>
              <a:rPr lang="en-US" sz="2000" dirty="0">
                <a:hlinkClick r:id="rId3"/>
              </a:rPr>
              <a:t>http://courses.coreservlets.com/Course-Materials/pdf/hadoop/06-Pig-01-Intro.pdf</a:t>
            </a:r>
            <a:r>
              <a:rPr lang="en-US" sz="2000" dirty="0"/>
              <a:t>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CSC1109 2024/2025</a:t>
            </a:r>
          </a:p>
        </p:txBody>
      </p:sp>
    </p:spTree>
    <p:extLst>
      <p:ext uri="{BB962C8B-B14F-4D97-AF65-F5344CB8AC3E}">
        <p14:creationId xmlns:p14="http://schemas.microsoft.com/office/powerpoint/2010/main" val="2814757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17867</TotalTime>
  <Words>1824</Words>
  <Application>Microsoft Macintosh PowerPoint</Application>
  <PresentationFormat>Widescreen</PresentationFormat>
  <Paragraphs>321</Paragraphs>
  <Slides>24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Courier New</vt:lpstr>
      <vt:lpstr>Helvetica</vt:lpstr>
      <vt:lpstr>Wingdings</vt:lpstr>
      <vt:lpstr>Office Theme</vt:lpstr>
      <vt:lpstr>CSC1109 – Data (Analytics) at Speed and Scale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DDL and DML</vt:lpstr>
      <vt:lpstr>Hive Basics: Queries</vt:lpstr>
      <vt:lpstr>Hive Basics: Queries (select)</vt:lpstr>
      <vt:lpstr>Hive Basics: Queries (operators and UDF)</vt:lpstr>
      <vt:lpstr>Hive Basics: Advanced queries</vt:lpstr>
      <vt:lpstr>Hive basics</vt:lpstr>
      <vt:lpstr>LAB: Where are we?</vt:lpstr>
      <vt:lpstr>Pig Links</vt:lpstr>
      <vt:lpstr>PigLatin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CA675: Cloud Technologies</dc:title>
  <dc:creator>Alexander O'Connor</dc:creator>
  <cp:lastModifiedBy>Alessandra Mileo</cp:lastModifiedBy>
  <cp:revision>428</cp:revision>
  <cp:lastPrinted>2023-09-28T09:46:13Z</cp:lastPrinted>
  <dcterms:created xsi:type="dcterms:W3CDTF">2016-02-01T11:34:13Z</dcterms:created>
  <dcterms:modified xsi:type="dcterms:W3CDTF">2025-09-25T13:43:45Z</dcterms:modified>
</cp:coreProperties>
</file>